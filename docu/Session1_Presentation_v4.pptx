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84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37160" cy="6858000"/>
          </a:xfrm>
          <a:prstGeom prst="rect">
            <a:avLst/>
          </a:prstGeom>
          <a:solidFill>
            <a:srgbClr val="46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AI in</a:t>
            </a:r>
            <a:br/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ED7F5"/>
                </a:solidFill>
                <a:latin typeface="Calibri"/>
              </a:defRPr>
            </a:pPr>
            <a:r>
              <a:t>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CE8FA"/>
                </a:solidFill>
                <a:latin typeface="Calibri"/>
              </a:defRPr>
            </a:pPr>
            <a:r>
              <a:t>First Contact with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msg Romania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291A5"/>
                </a:solidFill>
                <a:latin typeface="Calibri"/>
              </a:defRPr>
            </a:pPr>
            <a:r>
              <a:t>AI Adoption Initiative | Layer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1188720" cy="146304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85AAA"/>
                </a:solidFill>
                <a:latin typeface="Calibri"/>
              </a:defRPr>
            </a:pPr>
            <a:r>
              <a:rPr lang="en-US" dirty="0"/>
              <a:t>2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291A5"/>
                </a:solidFill>
                <a:latin typeface="Calibri"/>
              </a:defRPr>
            </a:pPr>
            <a:r>
              <a:t>Sessions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554480"/>
            <a:ext cx="1188720" cy="146304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6459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85AA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291A5"/>
                </a:solidFill>
                <a:latin typeface="Calibri"/>
              </a:defRPr>
            </a:pPr>
            <a:r>
              <a:t>Use Case</a:t>
            </a:r>
            <a:br/>
            <a:r>
              <a:t>to 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554480"/>
            <a:ext cx="1188720" cy="146304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6459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85AA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291A5"/>
                </a:solidFill>
                <a:latin typeface="Calibri"/>
              </a:defRPr>
            </a:pPr>
            <a:r>
              <a:t>Step</a:t>
            </a:r>
            <a:br/>
            <a:r>
              <a:t>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1554480"/>
            <a:ext cx="1188720" cy="146304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0" y="16459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85AAA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291A5"/>
                </a:solidFill>
                <a:latin typeface="Calibri"/>
              </a:defRPr>
            </a:pPr>
            <a:r>
              <a:t>Ready-to-use</a:t>
            </a:r>
            <a:br/>
            <a:r>
              <a:t>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6576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43264"/>
                </a:solidFill>
                <a:latin typeface="Calibri"/>
              </a:defRPr>
            </a:pPr>
            <a:r>
              <a:t>Find. Build. Present.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062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F73"/>
                </a:solidFill>
                <a:latin typeface="Calibri"/>
              </a:defRPr>
            </a:pPr>
            <a:r>
              <a:t>Your own AI use case from your daily work.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029200"/>
            <a:ext cx="5669280" cy="1005840"/>
          </a:xfrm>
          <a:prstGeom prst="roundRect">
            <a:avLst/>
          </a:prstGeom>
          <a:solidFill>
            <a:srgbClr val="DC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5166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5AAA"/>
                </a:solidFill>
                <a:latin typeface="Calibri"/>
              </a:defRPr>
            </a:pPr>
            <a:r>
              <a:t>Your goal for this course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4864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F73"/>
                </a:solidFill>
                <a:latin typeface="Calibri"/>
              </a:defRPr>
            </a:pPr>
            <a:r>
              <a:t>Discover an AI use case in your everyday work</a:t>
            </a:r>
            <a:br/>
            <a:r>
              <a:t>and present it -- with a special focus on test automation.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AI in Practice |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3264"/>
                </a:solidFill>
                <a:latin typeface="Calibri"/>
              </a:defRPr>
            </a:pPr>
            <a:r>
              <a:t>Welcome!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682C8"/>
                </a:solidFill>
                <a:latin typeface="Calibri"/>
              </a:defRPr>
            </a:pPr>
            <a:r>
              <a:t>This is a workshop, not a lecture.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5303520" cy="64008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85AAA"/>
                </a:solidFill>
                <a:latin typeface="Calibri"/>
              </a:defRPr>
            </a:pPr>
            <a:r>
              <a:t>What to expect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You will do most of the talking and typing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I am a facilitator and peer learner, not an AI expert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We explore AI together through hands-on exercises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Every attempt counts -- there are no wrong prompts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5303520" cy="64008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43264"/>
                </a:solidFill>
                <a:latin typeface="Calibri"/>
              </a:defRPr>
            </a:pPr>
            <a:r>
              <a:t>Three ground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1.  Try everything -- no stupid prompts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2.  Share honestly -- failures teach us the most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3.  Respect confidentiality -- no client data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     in public AI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0972800" cy="146304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5AAA"/>
                </a:solidFill>
                <a:latin typeface="Calibri"/>
              </a:defRPr>
            </a:pPr>
            <a:r>
              <a:t>About 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05F73"/>
                </a:solidFill>
                <a:latin typeface="Calibri"/>
              </a:defRPr>
            </a:pPr>
            <a:r>
              <a:rPr dirty="0"/>
              <a:t>Software Engineer  |  </a:t>
            </a:r>
            <a:r>
              <a:rPr lang="en-US" dirty="0"/>
              <a:t>6</a:t>
            </a:r>
            <a:r>
              <a:rPr dirty="0"/>
              <a:t> years experience  |  Java, ABS Framework, Python, Angular</a:t>
            </a:r>
            <a:r>
              <a:rPr lang="en-US" dirty="0"/>
              <a:t>, JavaScript</a:t>
            </a: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505F73"/>
                </a:solidFill>
                <a:latin typeface="Calibri"/>
              </a:defRPr>
            </a:pPr>
            <a:r>
              <a:rPr dirty="0"/>
              <a:t>Using AI for: debugging, documentation, learning, communication, productivity</a:t>
            </a:r>
          </a:p>
          <a:p>
            <a:pPr>
              <a:spcAft>
                <a:spcPts val="400"/>
              </a:spcAft>
              <a:defRPr sz="1500" b="0">
                <a:solidFill>
                  <a:srgbClr val="505F73"/>
                </a:solidFill>
                <a:latin typeface="Calibri"/>
              </a:defRPr>
            </a:pPr>
            <a:r>
              <a:rPr dirty="0"/>
              <a:t>I am NOT an AI expert -- I found AI useful and want to share that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AI in Practice | The whole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3264"/>
                </a:solidFill>
                <a:latin typeface="Calibri"/>
              </a:defRPr>
            </a:pPr>
            <a:r>
              <a:rPr dirty="0"/>
              <a:t>Your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682C8"/>
                </a:solidFill>
                <a:latin typeface="Calibri"/>
              </a:defRPr>
            </a:pPr>
            <a:r>
              <a:t>By the end of this course, find, build and present one AI use case from your own daily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53035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5303520" cy="64008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85AAA"/>
                </a:solidFill>
                <a:latin typeface="Calibri"/>
              </a:defRPr>
            </a:pPr>
            <a:r>
              <a:t>The 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Pick a real, recurring task from your work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Use AI on it across the next sessions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Present your chosen use case at the end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2-3 minutes, your own words, no slides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53035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2514600"/>
            <a:ext cx="5303520" cy="64008"/>
          </a:xfrm>
          <a:prstGeom prst="rect">
            <a:avLst/>
          </a:prstGeom>
          <a:solidFill>
            <a:srgbClr val="28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6974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8AA64"/>
                </a:solidFill>
                <a:latin typeface="Calibri"/>
              </a:defRPr>
            </a:pPr>
            <a:r>
              <a:t>Tell the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0896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What you tried first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What worked -- and what did NOT work for you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What you changed to make it work better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The result, and what you would do 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0640"/>
            <a:ext cx="10972800" cy="1005840"/>
          </a:xfrm>
          <a:prstGeom prst="roundRect">
            <a:avLst/>
          </a:prstGeom>
          <a:solidFill>
            <a:srgbClr val="DC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109728" cy="100584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23036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A0A0"/>
                </a:solidFill>
                <a:latin typeface="Calibri"/>
              </a:defRPr>
            </a:pPr>
            <a:r>
              <a:t>Special focus: Test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96128"/>
            <a:ext cx="10424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F73"/>
                </a:solidFill>
                <a:latin typeface="Calibri"/>
              </a:defRPr>
            </a:pPr>
            <a:r>
              <a:rPr dirty="0"/>
              <a:t>Most of </a:t>
            </a:r>
            <a:r>
              <a:rPr lang="en-US" dirty="0"/>
              <a:t>you</a:t>
            </a:r>
            <a:r>
              <a:rPr dirty="0"/>
              <a:t> here work in QA and testing -- start there. The same habits then carry straight into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AI in Practice |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3264"/>
                </a:solidFill>
                <a:latin typeface="Calibri"/>
              </a:defRPr>
            </a:pPr>
            <a:r>
              <a:t>What is Layer 1?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303520" cy="64008"/>
          </a:xfrm>
          <a:prstGeom prst="rect">
            <a:avLst/>
          </a:prstGeom>
          <a:solidFill>
            <a:srgbClr val="28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8AA64"/>
                </a:solidFill>
                <a:latin typeface="Calibri"/>
              </a:defRPr>
            </a:pPr>
            <a:r>
              <a:t>This IS 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E2837"/>
                </a:solidFill>
                <a:latin typeface="Calibri"/>
              </a:defRPr>
            </a:pPr>
            <a:r>
              <a:t>Practical usage of AI in your daily work</a:t>
            </a:r>
          </a:p>
          <a:p>
            <a:pPr>
              <a:spcAft>
                <a:spcPts val="500"/>
              </a:spcAft>
              <a:defRPr sz="1800" b="0">
                <a:solidFill>
                  <a:srgbClr val="1E2837"/>
                </a:solidFill>
                <a:latin typeface="Calibri"/>
              </a:defRPr>
            </a:pPr>
            <a:r>
              <a:t>Saving time on real, recurring tasks</a:t>
            </a:r>
          </a:p>
          <a:p>
            <a:pPr>
              <a:spcAft>
                <a:spcPts val="500"/>
              </a:spcAft>
              <a:defRPr sz="1800" b="0">
                <a:solidFill>
                  <a:srgbClr val="1E2837"/>
                </a:solidFill>
                <a:latin typeface="Calibri"/>
              </a:defRPr>
            </a:pPr>
            <a:r>
              <a:t>Building confidence with AI tools</a:t>
            </a:r>
          </a:p>
          <a:p>
            <a:pPr>
              <a:spcAft>
                <a:spcPts val="500"/>
              </a:spcAft>
              <a:defRPr sz="1800" b="0">
                <a:solidFill>
                  <a:srgbClr val="1E2837"/>
                </a:solidFill>
                <a:latin typeface="Calibri"/>
              </a:defRPr>
            </a:pPr>
            <a:r>
              <a:t>Finding YOUR use case (start with testing)</a:t>
            </a:r>
          </a:p>
          <a:p>
            <a:pPr>
              <a:spcAft>
                <a:spcPts val="500"/>
              </a:spcAft>
              <a:defRPr sz="1800" b="0">
                <a:solidFill>
                  <a:srgbClr val="1E2837"/>
                </a:solidFill>
                <a:latin typeface="Calibri"/>
              </a:defRPr>
            </a:pPr>
            <a:r>
              <a:t>Peer learning: teach each other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035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303520" cy="64008"/>
          </a:xfrm>
          <a:prstGeom prst="rect">
            <a:avLst/>
          </a:prstGeom>
          <a:solidFill>
            <a:srgbClr val="DC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DC5A5A"/>
                </a:solidFill>
                <a:latin typeface="Calibri"/>
              </a:defRPr>
            </a:pPr>
            <a:r>
              <a:t>This is NOT about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E2837"/>
                </a:solidFill>
                <a:latin typeface="Calibri"/>
              </a:defRPr>
            </a:pPr>
            <a:r>
              <a:t>How LLMs work internally</a:t>
            </a:r>
          </a:p>
          <a:p>
            <a:pPr>
              <a:spcAft>
                <a:spcPts val="500"/>
              </a:spcAft>
              <a:defRPr sz="1800" b="0">
                <a:solidFill>
                  <a:srgbClr val="1E2837"/>
                </a:solidFill>
                <a:latin typeface="Calibri"/>
              </a:defRPr>
            </a:pPr>
            <a:r>
              <a:t>Building AI applications or models</a:t>
            </a:r>
          </a:p>
          <a:p>
            <a:pPr>
              <a:spcAft>
                <a:spcPts val="500"/>
              </a:spcAft>
              <a:defRPr sz="1800" b="0">
                <a:solidFill>
                  <a:srgbClr val="1E2837"/>
                </a:solidFill>
                <a:latin typeface="Calibri"/>
              </a:defRPr>
            </a:pPr>
            <a:r>
              <a:t>Becoming an AI expert</a:t>
            </a:r>
          </a:p>
          <a:p>
            <a:pPr>
              <a:spcAft>
                <a:spcPts val="500"/>
              </a:spcAft>
              <a:defRPr sz="1800" b="0">
                <a:solidFill>
                  <a:srgbClr val="1E2837"/>
                </a:solidFill>
                <a:latin typeface="Calibri"/>
              </a:defRPr>
            </a:pPr>
            <a:r>
              <a:t>Replacing your professional skills</a:t>
            </a:r>
          </a:p>
          <a:p>
            <a:pPr>
              <a:spcAft>
                <a:spcPts val="500"/>
              </a:spcAft>
              <a:defRPr sz="1800" b="0">
                <a:solidFill>
                  <a:srgbClr val="1E2837"/>
                </a:solidFill>
                <a:latin typeface="Calibri"/>
              </a:defRPr>
            </a:pPr>
            <a:r>
              <a:t>(That is Layer 2 -- coming later)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0972800" cy="1371600"/>
          </a:xfrm>
          <a:prstGeom prst="roundRect">
            <a:avLst/>
          </a:prstGeom>
          <a:solidFill>
            <a:srgbClr val="DC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5AAA"/>
                </a:solidFill>
                <a:latin typeface="Calibri"/>
              </a:defRPr>
            </a:pPr>
            <a:r>
              <a:t>Learning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264"/>
                </a:solidFill>
                <a:latin typeface="Calibri"/>
              </a:defRPr>
            </a:pPr>
            <a:r>
              <a:t>"Participants learn first, then teach back to the group."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AI in Practice |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3264"/>
                </a:solidFill>
                <a:latin typeface="Calibri"/>
              </a:defRPr>
            </a:pPr>
            <a:r>
              <a:rPr dirty="0"/>
              <a:t>Today's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6361" y="56122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682C8"/>
                </a:solidFill>
                <a:latin typeface="Calibri"/>
              </a:defRPr>
            </a:pPr>
            <a:r>
              <a:rPr dirty="0"/>
              <a:t>60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0972800" cy="53035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280160" cy="530352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361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361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837"/>
                </a:solidFill>
                <a:latin typeface="Calibri"/>
              </a:defRPr>
            </a:pPr>
            <a:r>
              <a:t>Welcome, Ground Rules &amp; Your Mission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48256"/>
            <a:ext cx="10972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2048256"/>
            <a:ext cx="1280160" cy="530352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1214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1214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837"/>
                </a:solidFill>
                <a:latin typeface="Calibri"/>
              </a:defRPr>
            </a:pPr>
            <a:r>
              <a:t>Icebreaker: My Repetitive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33472"/>
            <a:ext cx="10972800" cy="53035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2633472"/>
            <a:ext cx="1280160" cy="530352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7066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70662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837"/>
                </a:solidFill>
                <a:latin typeface="Calibri"/>
              </a:defRPr>
            </a:pPr>
            <a:r>
              <a:t>Tool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18688"/>
            <a:ext cx="10972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3218688"/>
            <a:ext cx="1280160" cy="530352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291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264"/>
                </a:solidFill>
                <a:latin typeface="Calibri"/>
              </a:defRPr>
            </a:pPr>
            <a:r>
              <a:t>Exercise 1: First Real Prompt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03904"/>
            <a:ext cx="10972800" cy="53035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" y="3803904"/>
            <a:ext cx="1280160" cy="530352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87705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87705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837"/>
                </a:solidFill>
                <a:latin typeface="Calibri"/>
              </a:defRPr>
            </a:pPr>
            <a:r>
              <a:t>Discussion: What Surprised You?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89120"/>
            <a:ext cx="10972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48640" y="4389120"/>
            <a:ext cx="1280160" cy="530352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4622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4622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264"/>
                </a:solidFill>
                <a:latin typeface="Calibri"/>
              </a:defRPr>
            </a:pPr>
            <a:r>
              <a:t>Exercise 2: Improve with CRAFT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974336"/>
            <a:ext cx="10972800" cy="53035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48640" y="4974336"/>
            <a:ext cx="1280160" cy="530352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047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0474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837"/>
                </a:solidFill>
                <a:latin typeface="Calibri"/>
              </a:defRPr>
            </a:pPr>
            <a:r>
              <a:t>Group Debrief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59551"/>
            <a:ext cx="10972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48640" y="5559551"/>
            <a:ext cx="1280160" cy="530352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5632703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632703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264"/>
                </a:solidFill>
                <a:latin typeface="Calibri"/>
              </a:defRPr>
            </a:pPr>
            <a:r>
              <a:t>Your Use Case: pick it &amp; first pitch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6144767"/>
            <a:ext cx="10972800" cy="53035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48640" y="6144767"/>
            <a:ext cx="1280160" cy="530352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621791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5'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621791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837"/>
                </a:solidFill>
                <a:latin typeface="Calibri"/>
              </a:defRPr>
            </a:pPr>
            <a:r>
              <a:t>Assignments + One-Word Checkout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ED7F5"/>
                </a:solidFill>
                <a:latin typeface="Calibri"/>
              </a:defRPr>
            </a:pPr>
            <a:r>
              <a:t>ICEBREAKER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My Repetitive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2837"/>
                </a:solidFill>
                <a:latin typeface="Calibri"/>
              </a:defRPr>
            </a:pPr>
            <a:r>
              <a:t>Think of one task in your testing or daily work that felt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85AAA"/>
                </a:solidFill>
                <a:latin typeface="Calibri"/>
              </a:defRPr>
            </a:pPr>
            <a:r>
              <a:t>tedious, repetitive, or boring.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05F73"/>
                </a:solidFill>
                <a:latin typeface="Calibri"/>
              </a:defRPr>
            </a:pPr>
            <a:r>
              <a:t>Share it with the group in 30-45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394960"/>
            <a:ext cx="6675120" cy="640080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546811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This may become YOUR use case -- keep it in mind!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AI in Practice |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3264"/>
                </a:solidFill>
                <a:latin typeface="Calibri"/>
              </a:defRPr>
            </a:pPr>
            <a:r>
              <a:t>Tool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682C8"/>
                </a:solidFill>
                <a:latin typeface="Calibri"/>
              </a:defRPr>
            </a:pPr>
            <a:r>
              <a:t>Open your AI tool right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103120" cy="11887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103120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264"/>
                </a:solidFill>
                <a:latin typeface="Calibri"/>
              </a:defRPr>
            </a:pPr>
            <a:r>
              <a:t>msg AI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828800"/>
            <a:ext cx="2103120" cy="11887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0" y="1828800"/>
            <a:ext cx="2103120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264"/>
                </a:solidFill>
                <a:latin typeface="Calibri"/>
              </a:defRPr>
            </a:pPr>
            <a:r>
              <a:t>Microsoft</a:t>
            </a:r>
            <a:br/>
            <a:r>
              <a:t>Copilot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828800"/>
            <a:ext cx="2103120" cy="11887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0" y="1828800"/>
            <a:ext cx="2103120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264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28800"/>
            <a:ext cx="2103120" cy="11887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1828800"/>
            <a:ext cx="2103120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264"/>
                </a:solidFill>
                <a:latin typeface="Calibri"/>
              </a:defRPr>
            </a:pPr>
            <a:r>
              <a:t>GitHub</a:t>
            </a:r>
            <a:br/>
            <a:r>
              <a:t>Copilot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828800"/>
            <a:ext cx="2103120" cy="11887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01200" y="1828800"/>
            <a:ext cx="2103120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264"/>
                </a:solidFill>
                <a:latin typeface="Calibri"/>
              </a:defRPr>
            </a:pPr>
            <a:r>
              <a:t>Claude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3383280"/>
            <a:ext cx="9144000" cy="1828800"/>
          </a:xfrm>
          <a:prstGeom prst="roundRect">
            <a:avLst/>
          </a:prstGeom>
          <a:solidFill>
            <a:srgbClr val="DC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288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5AAA"/>
                </a:solidFill>
                <a:latin typeface="Calibri"/>
              </a:defRPr>
            </a:pPr>
            <a:r>
              <a:t>Quick test: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023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43264"/>
                </a:solidFill>
                <a:latin typeface="Calibri"/>
              </a:defRPr>
            </a:pPr>
            <a:r>
              <a:t>Type:  "In one sentence, what is the capital of Romania?"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A64"/>
                </a:solidFill>
                <a:latin typeface="Calibri"/>
              </a:defRPr>
            </a:pPr>
            <a:r>
              <a:t>Got an answer?  You are ready!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ED7F5"/>
                </a:solidFill>
                <a:latin typeface="Calibri"/>
              </a:defRPr>
            </a:pPr>
            <a:r>
              <a:t>EXERCISE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Your First Real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73152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7315200" cy="64008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85AAA"/>
                </a:solidFill>
                <a:latin typeface="Calibri"/>
              </a:defRPr>
            </a:pPr>
            <a:r>
              <a:t>What to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6858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E2837"/>
                </a:solidFill>
                <a:latin typeface="Calibri"/>
              </a:defRPr>
            </a:pPr>
            <a:r>
              <a:t>1.  Open your AI tool</a:t>
            </a:r>
          </a:p>
          <a:p>
            <a:pPr>
              <a:spcAft>
                <a:spcPts val="500"/>
              </a:spcAft>
              <a:defRPr sz="1900" b="0">
                <a:solidFill>
                  <a:srgbClr val="1E2837"/>
                </a:solidFill>
                <a:latin typeface="Calibri"/>
              </a:defRPr>
            </a:pPr>
            <a:r>
              <a:t>2.  Pick your repetitive task from the icebreaker</a:t>
            </a:r>
          </a:p>
          <a:p>
            <a:pPr>
              <a:spcAft>
                <a:spcPts val="500"/>
              </a:spcAft>
              <a:defRPr sz="1900" b="0">
                <a:solidFill>
                  <a:srgbClr val="1E2837"/>
                </a:solidFill>
                <a:latin typeface="Calibri"/>
              </a:defRPr>
            </a:pPr>
            <a:r>
              <a:t>3.  Write a prompt in plain language --</a:t>
            </a:r>
          </a:p>
          <a:p>
            <a:pPr>
              <a:spcAft>
                <a:spcPts val="500"/>
              </a:spcAft>
              <a:defRPr sz="1900" b="0">
                <a:solidFill>
                  <a:srgbClr val="1E2837"/>
                </a:solidFill>
                <a:latin typeface="Calibri"/>
              </a:defRPr>
            </a:pPr>
            <a:r>
              <a:t>     like asking a colleague for help</a:t>
            </a:r>
          </a:p>
          <a:p>
            <a:pPr>
              <a:spcAft>
                <a:spcPts val="500"/>
              </a:spcAft>
              <a:defRPr sz="1900" b="0">
                <a:solidFill>
                  <a:srgbClr val="1E2837"/>
                </a:solidFill>
                <a:latin typeface="Calibri"/>
              </a:defRPr>
            </a:pPr>
            <a:r>
              <a:t>4.  Run it and read the result</a:t>
            </a:r>
          </a:p>
          <a:p>
            <a:pPr>
              <a:spcAft>
                <a:spcPts val="500"/>
              </a:spcAft>
              <a:defRPr sz="1900" b="0">
                <a:solidFill>
                  <a:srgbClr val="1E2837"/>
                </a:solidFill>
                <a:latin typeface="Calibri"/>
              </a:defRPr>
            </a:pPr>
            <a:r>
              <a:t>5.  Be ready to share your screen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377440"/>
            <a:ext cx="3200400" cy="329184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2651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291A5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017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85AAA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114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05F73"/>
                </a:solidFill>
                <a:latin typeface="Calibri"/>
              </a:defRPr>
            </a:pPr>
            <a:r>
              <a:t>Don't overthink it.</a:t>
            </a:r>
            <a:br/>
            <a:r>
              <a:t>Just type what</a:t>
            </a:r>
            <a:br/>
            <a:r>
              <a:t>comes naturally!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943600"/>
            <a:ext cx="7315200" cy="548640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0" y="5989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AI in Practice |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3264"/>
                </a:solidFill>
                <a:latin typeface="Calibri"/>
              </a:defRPr>
            </a:pPr>
            <a:r>
              <a:t>What Surprised You?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731520" cy="1097280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463040"/>
            <a:ext cx="10058400" cy="109728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160020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837"/>
                </a:solidFill>
                <a:latin typeface="Calibri"/>
              </a:defRPr>
            </a:pPr>
            <a:r>
              <a:t>What was easier than you expected?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731520" cy="1097280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697480"/>
            <a:ext cx="10058400" cy="109728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37360" y="283464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837"/>
                </a:solidFill>
                <a:latin typeface="Calibri"/>
              </a:defRPr>
            </a:pPr>
            <a:r>
              <a:t>Did the AI get anything wrong?</a:t>
            </a:r>
            <a:br/>
            <a:r>
              <a:t>How did you notice?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731520" cy="1097280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3931920"/>
            <a:ext cx="10058400" cy="109728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37360" y="406908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837"/>
                </a:solidFill>
                <a:latin typeface="Calibri"/>
              </a:defRPr>
            </a:pPr>
            <a:r>
              <a:t>Would you trust this output as-is,</a:t>
            </a:r>
            <a:br/>
            <a:r>
              <a:t>or would you need to edit it?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731520" cy="1097280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5166360"/>
            <a:ext cx="10058400" cy="109728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37360" y="530352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837"/>
                </a:solidFill>
                <a:latin typeface="Calibri"/>
              </a:defRPr>
            </a:pPr>
            <a:r>
              <a:t>How is this different from</a:t>
            </a:r>
            <a:br/>
            <a:r>
              <a:t>Googling the same question?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The CRAFT Prompt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097280" cy="822960"/>
          </a:xfrm>
          <a:prstGeom prst="round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43264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737360"/>
            <a:ext cx="6949440" cy="8229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90195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837"/>
                </a:solidFill>
                <a:latin typeface="Calibri"/>
              </a:defRPr>
            </a:pPr>
            <a:r>
              <a:t>What is the situation? Who am I? What project?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097280" cy="822960"/>
          </a:xfrm>
          <a:prstGeom prst="roundRect">
            <a:avLst/>
          </a:prstGeom>
          <a:solidFill>
            <a:srgbClr val="28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34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43264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697480"/>
            <a:ext cx="6949440" cy="8229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8620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837"/>
                </a:solidFill>
                <a:latin typeface="Calibri"/>
              </a:defRPr>
            </a:pPr>
            <a:r>
              <a:t>What exactly do I want the AI to produce?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1097280" cy="822960"/>
          </a:xfrm>
          <a:prstGeom prst="roundRect">
            <a:avLst/>
          </a:prstGeom>
          <a:solidFill>
            <a:srgbClr val="DC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794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43264"/>
                </a:solidFill>
                <a:latin typeface="Calibri"/>
              </a:defRPr>
            </a:pPr>
            <a:r>
              <a:t>Audience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657600"/>
            <a:ext cx="6949440" cy="8229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3822191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837"/>
                </a:solidFill>
                <a:latin typeface="Calibri"/>
              </a:defRPr>
            </a:pPr>
            <a:r>
              <a:t>Who will read or use this output?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17720"/>
            <a:ext cx="1097280" cy="822960"/>
          </a:xfrm>
          <a:prstGeom prst="roundRect">
            <a:avLst/>
          </a:prstGeom>
          <a:solidFill>
            <a:srgbClr val="78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754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43264"/>
                </a:solidFill>
                <a:latin typeface="Calibri"/>
              </a:defRPr>
            </a:pPr>
            <a:r>
              <a:t>Format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617720"/>
            <a:ext cx="6949440" cy="8229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0" y="478231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837"/>
                </a:solidFill>
                <a:latin typeface="Calibri"/>
              </a:defRPr>
            </a:pPr>
            <a:r>
              <a:t>Bullet points? Table? Paragraph? Code?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77840"/>
            <a:ext cx="1097280" cy="822960"/>
          </a:xfrm>
          <a:prstGeom prst="roundRect">
            <a:avLst/>
          </a:prstGeom>
          <a:solidFill>
            <a:srgbClr val="C8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7150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715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43264"/>
                </a:solidFill>
                <a:latin typeface="Calibri"/>
              </a:defRPr>
            </a:pPr>
            <a:r>
              <a:t>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5577840"/>
            <a:ext cx="6949440" cy="8229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0" y="5742431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837"/>
                </a:solidFill>
                <a:latin typeface="Calibri"/>
              </a:defRPr>
            </a:pPr>
            <a:r>
              <a:t>Professional? Casual? Technical? Friendly?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6583680"/>
            <a:ext cx="9144000" cy="228600"/>
          </a:xfrm>
          <a:prstGeom prst="roundRect">
            <a:avLst/>
          </a:prstGeom>
          <a:solidFill>
            <a:srgbClr val="DC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7160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291A5"/>
                </a:solidFill>
                <a:latin typeface="Calibri"/>
              </a:defRPr>
            </a:pPr>
            <a:r>
              <a:t>You don't need all five every time -- even 2 elements improve results dramatically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AI in Practice | The habit that matters 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3264"/>
                </a:solidFill>
                <a:latin typeface="Calibri"/>
              </a:defRPr>
            </a:pPr>
            <a:r>
              <a:t>The Iteration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682C8"/>
                </a:solidFill>
                <a:latin typeface="Calibri"/>
              </a:defRPr>
            </a:pPr>
            <a:r>
              <a:t>Your first prompt is rarely your best. Great results come from iterating.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2606040" cy="73152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25880" y="2331720"/>
            <a:ext cx="868680" cy="868680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2432304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5AAA"/>
                </a:solidFill>
                <a:latin typeface="Calibri"/>
              </a:defRPr>
            </a:pPr>
            <a:r>
              <a:t>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F73"/>
                </a:solidFill>
                <a:latin typeface="Calibri"/>
              </a:defRPr>
            </a:pPr>
            <a:r>
              <a:t>Write a first prompt and run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291A5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10312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2103120"/>
            <a:ext cx="2606040" cy="73152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51960" y="2331720"/>
            <a:ext cx="868680" cy="868680"/>
          </a:xfrm>
          <a:prstGeom prst="round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2432304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37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A0A0"/>
                </a:solidFill>
                <a:latin typeface="Calibri"/>
              </a:defRPr>
            </a:pPr>
            <a:r>
              <a:t>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794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F73"/>
                </a:solidFill>
                <a:latin typeface="Calibri"/>
              </a:defRPr>
            </a:pPr>
            <a:r>
              <a:t>What is good? What is wrong or missing?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291A5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10312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2103120"/>
            <a:ext cx="2606040" cy="73152"/>
          </a:xfrm>
          <a:prstGeom prst="rect">
            <a:avLst/>
          </a:prstGeom>
          <a:solidFill>
            <a:srgbClr val="EB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178040" y="2331720"/>
            <a:ext cx="868680" cy="868680"/>
          </a:xfrm>
          <a:prstGeom prst="roundRect">
            <a:avLst/>
          </a:prstGeom>
          <a:solidFill>
            <a:srgbClr val="EB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2432304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37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B9B32"/>
                </a:solidFill>
                <a:latin typeface="Calibri"/>
              </a:defRPr>
            </a:pPr>
            <a:r>
              <a:t>ADJUST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94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F73"/>
                </a:solidFill>
                <a:latin typeface="Calibri"/>
              </a:defRPr>
            </a:pPr>
            <a:r>
              <a:t>Add context, apply CRAFT, change the ask.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291A5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10312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35440" y="2103120"/>
            <a:ext cx="2606040" cy="73152"/>
          </a:xfrm>
          <a:prstGeom prst="rect">
            <a:avLst/>
          </a:prstGeom>
          <a:solidFill>
            <a:srgbClr val="28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104120" y="2331720"/>
            <a:ext cx="868680" cy="868680"/>
          </a:xfrm>
          <a:prstGeom prst="roundRect">
            <a:avLst/>
          </a:prstGeom>
          <a:solidFill>
            <a:srgbClr val="28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04120" y="2432304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337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AA64"/>
                </a:solidFill>
                <a:latin typeface="Calibri"/>
              </a:defRPr>
            </a:pPr>
            <a:r>
              <a:t>RETRY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794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F73"/>
                </a:solidFill>
                <a:latin typeface="Calibri"/>
              </a:defRPr>
            </a:pPr>
            <a:r>
              <a:t>Run again, compare, keep improving.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937760"/>
            <a:ext cx="10972800" cy="1097280"/>
          </a:xfrm>
          <a:prstGeom prst="roundRect">
            <a:avLst/>
          </a:prstGeom>
          <a:solidFill>
            <a:srgbClr val="DC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4937760"/>
            <a:ext cx="109728" cy="1097280"/>
          </a:xfrm>
          <a:prstGeom prst="rect">
            <a:avLst/>
          </a:prstGeom>
          <a:solidFill>
            <a:srgbClr val="28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04748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A64"/>
                </a:solidFill>
                <a:latin typeface="Calibri"/>
              </a:defRPr>
            </a:pPr>
            <a:r>
              <a:t>This loop IS your use-case story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41324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F73"/>
                </a:solidFill>
                <a:latin typeface="Calibri"/>
              </a:defRPr>
            </a:pPr>
            <a:r>
              <a:t>When you present your use case, you will simply walk us through your loop: what you tried, what worked, what you changed.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ED7F5"/>
                </a:solidFill>
                <a:latin typeface="Calibri"/>
              </a:defRPr>
            </a:pPr>
            <a:r>
              <a:t>EXERCISE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Improve the Prompt with CRAFT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303520" cy="64008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85AAA"/>
                </a:solidFill>
                <a:latin typeface="Calibri"/>
              </a:defRPr>
            </a:pPr>
            <a:r>
              <a:t>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79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1.  Pair up with your neighbor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2.  Show your prompt from Exercise 1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3.  Your partner rewrites it using CRAFT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     (add at least 2 elements)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4.  Run the improved prompt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5.  Compare original vs improved</a:t>
            </a:r>
          </a:p>
          <a:p>
            <a:pPr>
              <a:spcAft>
                <a:spcPts val="500"/>
              </a:spcAft>
              <a:defRPr sz="1700" b="0">
                <a:solidFill>
                  <a:srgbClr val="1E2837"/>
                </a:solidFill>
                <a:latin typeface="Calibri"/>
              </a:defRPr>
            </a:pPr>
            <a:r>
              <a:t>6.  Switch roles and repeat!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103120"/>
            <a:ext cx="5486400" cy="155448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2103120"/>
            <a:ext cx="5486400" cy="54864"/>
          </a:xfrm>
          <a:prstGeom prst="rect">
            <a:avLst/>
          </a:prstGeom>
          <a:solidFill>
            <a:srgbClr val="DC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5A5A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505F73"/>
                </a:solidFill>
                <a:latin typeface="Calibri"/>
              </a:defRPr>
            </a:pPr>
            <a:r>
              <a:t>"Write tests for this login function."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486400" cy="228600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486400" cy="54864"/>
          </a:xfrm>
          <a:prstGeom prst="rect">
            <a:avLst/>
          </a:prstGeom>
          <a:solidFill>
            <a:srgbClr val="28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A64"/>
                </a:solidFill>
                <a:latin typeface="Calibri"/>
              </a:defRPr>
            </a:pPr>
            <a:r>
              <a:t>AFTER (with CRAFT)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434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143264"/>
                </a:solidFill>
                <a:latin typeface="Calibri"/>
              </a:defRPr>
            </a:pPr>
            <a:r>
              <a:t>"I am a QA engineer (C). Write JUnit 5 unit</a:t>
            </a:r>
          </a:p>
          <a:p>
            <a:pPr>
              <a:spcAft>
                <a:spcPts val="200"/>
              </a:spcAft>
              <a:defRPr sz="1400" b="0">
                <a:solidFill>
                  <a:srgbClr val="143264"/>
                </a:solidFill>
                <a:latin typeface="Calibri"/>
              </a:defRPr>
            </a:pPr>
            <a:r>
              <a:t>tests for this Java login method (R), for a dev</a:t>
            </a:r>
          </a:p>
          <a:p>
            <a:pPr>
              <a:spcAft>
                <a:spcPts val="200"/>
              </a:spcAft>
              <a:defRPr sz="1400" b="0">
                <a:solidFill>
                  <a:srgbClr val="143264"/>
                </a:solidFill>
                <a:latin typeface="Calibri"/>
              </a:defRPr>
            </a:pPr>
            <a:r>
              <a:t>team (A). Cover valid login, wrong password,</a:t>
            </a:r>
          </a:p>
          <a:p>
            <a:pPr>
              <a:spcAft>
                <a:spcPts val="200"/>
              </a:spcAft>
              <a:defRPr sz="1400" b="0">
                <a:solidFill>
                  <a:srgbClr val="143264"/>
                </a:solidFill>
                <a:latin typeface="Calibri"/>
              </a:defRPr>
            </a:pPr>
            <a:r>
              <a:t>locked account and null input. Format: one</a:t>
            </a:r>
          </a:p>
          <a:p>
            <a:pPr>
              <a:spcAft>
                <a:spcPts val="200"/>
              </a:spcAft>
              <a:defRPr sz="1400" b="0">
                <a:solidFill>
                  <a:srgbClr val="143264"/>
                </a:solidFill>
                <a:latin typeface="Calibri"/>
              </a:defRPr>
            </a:pPr>
            <a:r>
              <a:t>@Test per case with clear names (F). Tone:</a:t>
            </a:r>
          </a:p>
          <a:p>
            <a:pPr>
              <a:spcAft>
                <a:spcPts val="200"/>
              </a:spcAft>
              <a:defRPr sz="1400" b="0">
                <a:solidFill>
                  <a:srgbClr val="143264"/>
                </a:solidFill>
                <a:latin typeface="Calibri"/>
              </a:defRPr>
            </a:pPr>
            <a:r>
              <a:t>concise, production-ready (T). [paste code]"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6309360"/>
            <a:ext cx="8229600" cy="502920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6355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8 minutes  |  Then 2-3 pairs share before/after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YOUR FOCUS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for Test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00" cy="64008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4A0A0"/>
                </a:solidFill>
                <a:latin typeface="Calibri"/>
              </a:defRPr>
            </a:pPr>
            <a:r>
              <a:t>Where AI helps in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029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Generate test cases from acceptance criteria</a:t>
            </a:r>
          </a:p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Write unit / integration / E2E tests</a:t>
            </a:r>
          </a:p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Turn manual test steps into automation scripts</a:t>
            </a:r>
          </a:p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Generate realistic test data &amp; edge cases</a:t>
            </a:r>
          </a:p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Create Page Objects / locators</a:t>
            </a:r>
          </a:p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Explain &amp; fix flaky or failing tests</a:t>
            </a:r>
          </a:p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Spot coverage gaps in existing suites</a:t>
            </a:r>
          </a:p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Gherkin / BDD scenarios from user stories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303520" cy="64008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85AAA"/>
                </a:solidFill>
                <a:latin typeface="Calibri"/>
              </a:defRPr>
            </a:pPr>
            <a:r>
              <a:t>...and it extends to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Generate code snippets &amp; refactors</a:t>
            </a:r>
          </a:p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Explain legacy code you must test</a:t>
            </a:r>
          </a:p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Draft commit messages &amp; PR descriptions</a:t>
            </a:r>
          </a:p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Debug: "why does this fail?"</a:t>
            </a:r>
          </a:p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Generate SQL from plain language</a:t>
            </a:r>
          </a:p>
          <a:p>
            <a:pPr>
              <a:spcAft>
                <a:spcPts val="500"/>
              </a:spcAft>
              <a:defRPr sz="1600" b="0">
                <a:solidFill>
                  <a:srgbClr val="1E2837"/>
                </a:solidFill>
                <a:latin typeface="Calibri"/>
              </a:defRPr>
            </a:pPr>
            <a:r>
              <a:t>Learn new frameworks quickly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15000"/>
            <a:ext cx="10972800" cy="640080"/>
          </a:xfrm>
          <a:prstGeom prst="roundRect">
            <a:avLst/>
          </a:prstGeom>
          <a:solidFill>
            <a:srgbClr val="DC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788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264"/>
                </a:solidFill>
                <a:latin typeface="Calibri"/>
              </a:defRPr>
            </a:pPr>
            <a:r>
              <a:t>Start where you are strongest (testing). The same prompting habits make you faster in dev too.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From msg Romania AI Learning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3264"/>
                </a:solidFill>
                <a:latin typeface="Calibri"/>
              </a:defRPr>
            </a:pPr>
            <a:r>
              <a:t>AI Use Cases by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28346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834640" cy="64008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4A0A0"/>
                </a:solidFill>
                <a:latin typeface="Calibri"/>
              </a:defRPr>
            </a:pPr>
            <a:r>
              <a:t>QA /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Test cases from criteria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Automate manual steps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Generate test data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Fix flaky tests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Coverage gap analysis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BDD / Gherkin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8346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463040"/>
            <a:ext cx="2834640" cy="64008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85AAA"/>
                </a:solidFill>
                <a:latin typeface="Calibri"/>
              </a:defRPr>
            </a:pPr>
            <a:r>
              <a:t>Developers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Generate code snippets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Explain legacy code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Write unit tests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Debug: 'why does this fail?'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Draft commit messages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Learn new frameworks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63040"/>
            <a:ext cx="28346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2834640" cy="64008"/>
          </a:xfrm>
          <a:prstGeom prst="rect">
            <a:avLst/>
          </a:prstGeom>
          <a:solidFill>
            <a:srgbClr val="28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8AA64"/>
                </a:solidFill>
                <a:latin typeface="Calibri"/>
              </a:defRPr>
            </a:pPr>
            <a:r>
              <a:t>PM / PO / 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Summarize meetings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Create user stories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Draft retrospectives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Stakeholder comms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Sprint planning help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Risk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463040"/>
            <a:ext cx="28346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81160" y="1463040"/>
            <a:ext cx="2834640" cy="64008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6404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43264"/>
                </a:solidFill>
                <a:latin typeface="Calibri"/>
              </a:defRPr>
            </a:pPr>
            <a:r>
              <a:t>All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Email drafting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German translation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Learning new tech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Brainstorming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Document summaries</a:t>
            </a:r>
          </a:p>
          <a:p>
            <a:pPr>
              <a:spcAft>
                <a:spcPts val="700"/>
              </a:spcAft>
              <a:defRPr sz="1500" b="0">
                <a:solidFill>
                  <a:srgbClr val="1E2837"/>
                </a:solidFill>
                <a:latin typeface="Calibri"/>
              </a:defRPr>
            </a:pPr>
            <a:r>
              <a:t>Productivity tips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AI in Practice |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3264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73152" cy="640080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264"/>
                </a:solidFill>
                <a:latin typeface="Calibri"/>
              </a:defRPr>
            </a:pPr>
            <a:r>
              <a:t>AI is a tool, not magic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F73"/>
                </a:solidFill>
                <a:latin typeface="Calibri"/>
              </a:defRPr>
            </a:pPr>
            <a:r>
              <a:t>You are the expert. AI is your assistant.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73152" cy="640080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264"/>
                </a:solidFill>
                <a:latin typeface="Calibri"/>
              </a:defRPr>
            </a:pPr>
            <a:r>
              <a:t>Prompt quality = output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F73"/>
                </a:solidFill>
                <a:latin typeface="Calibri"/>
              </a:defRPr>
            </a:pPr>
            <a:r>
              <a:t>Better input means better results.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640080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264"/>
                </a:solidFill>
                <a:latin typeface="Calibri"/>
              </a:defRPr>
            </a:pPr>
            <a:r>
              <a:t>Use CRAFT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F73"/>
                </a:solidFill>
                <a:latin typeface="Calibri"/>
              </a:defRPr>
            </a:pPr>
            <a:r>
              <a:t>Context, Request, Audience, Format, Tone.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94760"/>
            <a:ext cx="73152" cy="640080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264"/>
                </a:solidFill>
                <a:latin typeface="Calibri"/>
              </a:defRPr>
            </a:pPr>
            <a:r>
              <a:t>Iterate -- don't stop at attempt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F73"/>
                </a:solidFill>
                <a:latin typeface="Calibri"/>
              </a:defRPr>
            </a:pPr>
            <a:r>
              <a:t>Try, observe, adjust, retry. That is your story.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73152" cy="640080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264"/>
                </a:solidFill>
                <a:latin typeface="Calibri"/>
              </a:defRPr>
            </a:pPr>
            <a:r>
              <a:t>Always verify AI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F73"/>
                </a:solidFill>
                <a:latin typeface="Calibri"/>
              </a:defRPr>
            </a:pPr>
            <a:r>
              <a:t>It can be confidently wrong (hallucinations).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49240"/>
            <a:ext cx="73152" cy="640080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264"/>
                </a:solidFill>
                <a:latin typeface="Calibri"/>
              </a:defRPr>
            </a:pPr>
            <a:r>
              <a:t>Own a use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F73"/>
                </a:solidFill>
                <a:latin typeface="Calibri"/>
              </a:defRPr>
            </a:pPr>
            <a:r>
              <a:t>Especially in test automation -- and present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463040"/>
            <a:ext cx="4754880" cy="475488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1645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5AAA"/>
                </a:solidFill>
                <a:latin typeface="Calibri"/>
              </a:defRPr>
            </a:pPr>
            <a:r>
              <a:t>CRAFT Cheat Sheet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2194560"/>
            <a:ext cx="640080" cy="548640"/>
          </a:xfrm>
          <a:prstGeom prst="round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0" y="22585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43264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2880360"/>
            <a:ext cx="640080" cy="548640"/>
          </a:xfrm>
          <a:prstGeom prst="roundRect">
            <a:avLst/>
          </a:prstGeom>
          <a:solidFill>
            <a:srgbClr val="28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0" y="29443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971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43264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3566160"/>
            <a:ext cx="640080" cy="548640"/>
          </a:xfrm>
          <a:prstGeom prst="roundRect">
            <a:avLst/>
          </a:prstGeom>
          <a:solidFill>
            <a:srgbClr val="DC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0" y="36301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657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43264"/>
                </a:solidFill>
                <a:latin typeface="Calibri"/>
              </a:defRPr>
            </a:pPr>
            <a:r>
              <a:t>Audience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4251960"/>
            <a:ext cx="640080" cy="548640"/>
          </a:xfrm>
          <a:prstGeom prst="roundRect">
            <a:avLst/>
          </a:prstGeom>
          <a:solidFill>
            <a:srgbClr val="78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0" y="43159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343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43264"/>
                </a:solidFill>
                <a:latin typeface="Calibri"/>
              </a:defRPr>
            </a:pPr>
            <a:r>
              <a:t>Format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4937760"/>
            <a:ext cx="640080" cy="548640"/>
          </a:xfrm>
          <a:prstGeom prst="roundRect">
            <a:avLst/>
          </a:prstGeom>
          <a:solidFill>
            <a:srgbClr val="C8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0" y="50017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5029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43264"/>
                </a:solidFill>
                <a:latin typeface="Calibri"/>
              </a:defRPr>
            </a:pPr>
            <a:r>
              <a:t>Tone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486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8AA64"/>
                </a:solidFill>
                <a:latin typeface="Calibri"/>
              </a:defRPr>
            </a:pPr>
            <a:r>
              <a:t>Add at least 2 elements</a:t>
            </a:r>
            <a:br/>
            <a:r>
              <a:t>to every prompt!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AI in Practice | The final deliverable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3264"/>
                </a:solidFill>
                <a:latin typeface="Calibri"/>
              </a:defRPr>
            </a:pPr>
            <a:r>
              <a:t>Your Use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682C8"/>
                </a:solidFill>
                <a:latin typeface="Calibri"/>
              </a:defRPr>
            </a:pPr>
            <a:r>
              <a:t>At the end of the course, each of you presents one use case. Here is the simple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685800" cy="713232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3055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011680"/>
            <a:ext cx="10104120" cy="71323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208483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264"/>
                </a:solidFill>
                <a:latin typeface="Calibri"/>
              </a:defRPr>
            </a:pPr>
            <a:r>
              <a:t>The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12140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F73"/>
                </a:solidFill>
                <a:latin typeface="Calibri"/>
              </a:defRPr>
            </a:pPr>
            <a:r>
              <a:t>Which recurring task you chose, and why it was worth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34640"/>
            <a:ext cx="685800" cy="713232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95351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2834640"/>
            <a:ext cx="10104120" cy="71323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0" y="29077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264"/>
                </a:solidFill>
                <a:latin typeface="Calibri"/>
              </a:defRPr>
            </a:pPr>
            <a:r>
              <a:t>First attempt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94436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F73"/>
                </a:solidFill>
                <a:latin typeface="Calibri"/>
              </a:defRPr>
            </a:pPr>
            <a:r>
              <a:t>Your first prompt and what the AI gave you.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57600"/>
            <a:ext cx="685800" cy="713232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77647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657600"/>
            <a:ext cx="10104120" cy="71323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373075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264"/>
                </a:solidFill>
                <a:latin typeface="Calibri"/>
              </a:defRPr>
            </a:pPr>
            <a:r>
              <a:t>What worked / what didn't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76732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F73"/>
                </a:solidFill>
                <a:latin typeface="Calibri"/>
              </a:defRPr>
            </a:pPr>
            <a:r>
              <a:t>Be honest -- the failures are the interesting part.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0560"/>
            <a:ext cx="685800" cy="713232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59943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4480560"/>
            <a:ext cx="10104120" cy="71323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45920" y="45537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264"/>
                </a:solidFill>
                <a:latin typeface="Calibri"/>
              </a:defRPr>
            </a:pPr>
            <a:r>
              <a:t>What you changed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59028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F73"/>
                </a:solidFill>
                <a:latin typeface="Calibri"/>
              </a:defRPr>
            </a:pPr>
            <a:r>
              <a:t>How you iterated (CRAFT, more context, new approach).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03520"/>
            <a:ext cx="685800" cy="713232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42239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5303520"/>
            <a:ext cx="10104120" cy="71323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45920" y="537667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264"/>
                </a:solidFill>
                <a:latin typeface="Calibri"/>
              </a:defRPr>
            </a:pPr>
            <a:r>
              <a:t>Result &amp; 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541324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F73"/>
                </a:solidFill>
                <a:latin typeface="Calibri"/>
              </a:defRPr>
            </a:pPr>
            <a:r>
              <a:t>Time saved, quality, and where you would take it next.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172200"/>
            <a:ext cx="10972800" cy="502920"/>
          </a:xfrm>
          <a:prstGeom prst="round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2-3 minutes  |  No slides required  |  Tip: testing use cases are perfect to start with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AI in Practice |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3264"/>
                </a:solidFill>
                <a:latin typeface="Calibri"/>
              </a:defRPr>
            </a:pPr>
            <a:r>
              <a:t>Before Next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566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66160" cy="73152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85AA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264"/>
                </a:solidFill>
                <a:latin typeface="Calibri"/>
              </a:defRPr>
            </a:pPr>
            <a:r>
              <a:t>Daily AI</a:t>
            </a:r>
            <a:br/>
            <a: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F73"/>
                </a:solidFill>
                <a:latin typeface="Calibri"/>
              </a:defRPr>
            </a:pPr>
            <a:r>
              <a:t>Use AI for at least one</a:t>
            </a:r>
            <a:br/>
            <a:r>
              <a:t>real work task every day.</a:t>
            </a:r>
            <a:br/>
            <a:r>
              <a:t>Keep a quick log.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566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566160" cy="73152"/>
          </a:xfrm>
          <a:prstGeom prst="rect">
            <a:avLst/>
          </a:prstGeom>
          <a:solidFill>
            <a:srgbClr val="46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91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4682C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264"/>
                </a:solidFill>
                <a:latin typeface="Calibri"/>
              </a:defRPr>
            </a:pPr>
            <a:r>
              <a:t>Read &amp;</a:t>
            </a:r>
            <a:br/>
            <a:r>
              <a:t>Summarize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F73"/>
                </a:solidFill>
                <a:latin typeface="Calibri"/>
              </a:defRPr>
            </a:pPr>
            <a:r>
              <a:t>Read the prompt engineering</a:t>
            </a:r>
            <a:br/>
            <a:r>
              <a:t>article. Use AI to summarize</a:t>
            </a:r>
            <a:br/>
            <a:r>
              <a:t>it in 5 bullet 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3566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463040"/>
            <a:ext cx="3566160" cy="73152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691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4A0A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264"/>
                </a:solidFill>
                <a:latin typeface="Calibri"/>
              </a:defRPr>
            </a:pPr>
            <a:r>
              <a:t>Build Your</a:t>
            </a:r>
            <a:br/>
            <a:r>
              <a:t>Use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004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F73"/>
                </a:solidFill>
                <a:latin typeface="Calibri"/>
              </a:defRPr>
            </a:pPr>
            <a:r>
              <a:t>Pick a testing task, run the</a:t>
            </a:r>
            <a:br/>
            <a:r>
              <a:t>iteration loop, and fill in</a:t>
            </a:r>
            <a:br/>
            <a:r>
              <a:t>your Use Case Log.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DC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05F73"/>
                </a:solidFill>
                <a:latin typeface="Calibri"/>
              </a:defRPr>
            </a:pPr>
            <a:r>
              <a:t>The Use Case Log and Final Presentation Template are in your Participant Handout PDF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291A5"/>
                </a:solidFill>
                <a:latin typeface="Calibri"/>
              </a:defRPr>
            </a:pPr>
            <a:r>
              <a:t>AI in Practice |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3264"/>
                </a:solidFill>
                <a:latin typeface="Calibri"/>
              </a:defRPr>
            </a:pPr>
            <a:r>
              <a:t>Your Prompt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1936" y="55778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682C8"/>
                </a:solidFill>
                <a:latin typeface="Calibri"/>
              </a:defRPr>
            </a:pPr>
            <a:r>
              <a:rPr dirty="0"/>
              <a:t>12 categories  |  30+ ready-to-use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743200" cy="54864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264"/>
                </a:solidFill>
                <a:latin typeface="Calibri"/>
              </a:defRPr>
            </a:pPr>
            <a:r>
              <a:t>Test</a:t>
            </a:r>
            <a:br/>
            <a:r>
              <a:t>Automation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6304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743200" cy="54864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691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264"/>
                </a:solidFill>
                <a:latin typeface="Calibri"/>
              </a:defRPr>
            </a:pPr>
            <a:r>
              <a:t>Test Data &amp;</a:t>
            </a:r>
            <a:br/>
            <a:r>
              <a:t>Edge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743200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691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264"/>
                </a:solidFill>
                <a:latin typeface="Calibri"/>
              </a:defRPr>
            </a:pPr>
            <a:r>
              <a:t>Understanding</a:t>
            </a:r>
            <a:br/>
            <a:r>
              <a:t>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46304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0" y="1463040"/>
            <a:ext cx="2743200" cy="54864"/>
          </a:xfrm>
          <a:prstGeom prst="rect">
            <a:avLst/>
          </a:prstGeom>
          <a:solidFill>
            <a:srgbClr val="DC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1691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264"/>
                </a:solidFill>
                <a:latin typeface="Calibri"/>
              </a:defRPr>
            </a:pPr>
            <a:r>
              <a:t>Debugging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74320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2743200"/>
            <a:ext cx="2743200" cy="54864"/>
          </a:xfrm>
          <a:prstGeom prst="rect">
            <a:avLst/>
          </a:prstGeom>
          <a:solidFill>
            <a:srgbClr val="46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971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264"/>
                </a:solidFill>
                <a:latin typeface="Calibri"/>
              </a:defRPr>
            </a:pPr>
            <a:r>
              <a:t>Requirement</a:t>
            </a:r>
            <a:br/>
            <a:r>
              <a:t>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274320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91840" y="2743200"/>
            <a:ext cx="2743200" cy="54864"/>
          </a:xfrm>
          <a:prstGeom prst="rect">
            <a:avLst/>
          </a:prstGeom>
          <a:solidFill>
            <a:srgbClr val="28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29000" y="2971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264"/>
                </a:solidFill>
                <a:latin typeface="Calibri"/>
              </a:defRPr>
            </a:pPr>
            <a:r>
              <a:t>Documentation</a:t>
            </a:r>
            <a:br/>
            <a:r>
              <a:t>Creation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74320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743200"/>
            <a:ext cx="2743200" cy="54864"/>
          </a:xfrm>
          <a:prstGeom prst="rect">
            <a:avLst/>
          </a:prstGeom>
          <a:solidFill>
            <a:srgbClr val="78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2971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264"/>
                </a:solidFill>
                <a:latin typeface="Calibri"/>
              </a:defRPr>
            </a:pPr>
            <a:r>
              <a:t>Learning</a:t>
            </a:r>
            <a:br/>
            <a:r>
              <a:t>New Tech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274320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0" y="2743200"/>
            <a:ext cx="2743200" cy="54864"/>
          </a:xfrm>
          <a:prstGeom prst="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81160" y="2971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264"/>
                </a:solidFill>
                <a:latin typeface="Calibri"/>
              </a:defRPr>
            </a:pPr>
            <a:r>
              <a:t>Meeting</a:t>
            </a:r>
            <a:br/>
            <a:r>
              <a:t>Summaries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02336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4023360"/>
            <a:ext cx="2743200" cy="54864"/>
          </a:xfrm>
          <a:prstGeom prst="rect">
            <a:avLst/>
          </a:prstGeom>
          <a:solidFill>
            <a:srgbClr val="46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251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264"/>
                </a:solidFill>
                <a:latin typeface="Calibri"/>
              </a:defRPr>
            </a:pPr>
            <a:r>
              <a:t>Email</a:t>
            </a:r>
            <a:br/>
            <a:r>
              <a:t>Drafting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402336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91840" y="4023360"/>
            <a:ext cx="2743200" cy="54864"/>
          </a:xfrm>
          <a:prstGeom prst="rect">
            <a:avLst/>
          </a:prstGeom>
          <a:solidFill>
            <a:srgbClr val="28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29000" y="4251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264"/>
                </a:solidFill>
                <a:latin typeface="Calibri"/>
              </a:defRPr>
            </a:pPr>
            <a:r>
              <a:t>Knowledge</a:t>
            </a:r>
            <a:br/>
            <a:r>
              <a:t>Transfer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02336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17920" y="4023360"/>
            <a:ext cx="2743200" cy="54864"/>
          </a:xfrm>
          <a:prstGeom prst="rect">
            <a:avLst/>
          </a:prstGeom>
          <a:solidFill>
            <a:srgbClr val="EB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4251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264"/>
                </a:solidFill>
                <a:latin typeface="Calibri"/>
              </a:defRPr>
            </a:pPr>
            <a:r>
              <a:t>German</a:t>
            </a:r>
            <a:br/>
            <a:r>
              <a:t>Translation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4023360"/>
            <a:ext cx="2743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44000" y="4023360"/>
            <a:ext cx="2743200" cy="54864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81160" y="4251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264"/>
                </a:solidFill>
                <a:latin typeface="Calibri"/>
              </a:defRPr>
            </a:pPr>
            <a:r>
              <a:t>Personal</a:t>
            </a:r>
            <a:br/>
            <a:r>
              <a:t>Productivity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71600" y="5394960"/>
            <a:ext cx="9144000" cy="548640"/>
          </a:xfrm>
          <a:prstGeom prst="roundRect">
            <a:avLst/>
          </a:prstGeom>
          <a:solidFill>
            <a:srgbClr val="DC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71600" y="5440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5AAA"/>
                </a:solidFill>
                <a:latin typeface="Calibri"/>
              </a:defRPr>
            </a:pPr>
            <a:r>
              <a:t>Full prompt library with copy-paste examples is in your Participant Handout!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91695" cy="2286000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143264"/>
                </a:solidFill>
                <a:latin typeface="Calibri"/>
              </a:defRPr>
            </a:pPr>
            <a:r>
              <a:t>One-Word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 one word, how are you feeling about AI right 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1828800" cy="502920"/>
          </a:xfrm>
          <a:prstGeom prst="roundRect">
            <a:avLst/>
          </a:prstGeom>
          <a:solidFill>
            <a:srgbClr val="46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Excited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3657600"/>
            <a:ext cx="1828800" cy="502920"/>
          </a:xfrm>
          <a:prstGeom prst="roundRect">
            <a:avLst/>
          </a:prstGeom>
          <a:solidFill>
            <a:srgbClr val="46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Curious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657600"/>
            <a:ext cx="1828800" cy="502920"/>
          </a:xfrm>
          <a:prstGeom prst="roundRect">
            <a:avLst/>
          </a:prstGeom>
          <a:solidFill>
            <a:srgbClr val="46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Skeptical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657600"/>
            <a:ext cx="1828800" cy="502920"/>
          </a:xfrm>
          <a:prstGeom prst="roundRect">
            <a:avLst/>
          </a:prstGeom>
          <a:solidFill>
            <a:srgbClr val="46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Surprised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1828800" cy="502920"/>
          </a:xfrm>
          <a:prstGeom prst="roundRect">
            <a:avLst/>
          </a:prstGeom>
          <a:solidFill>
            <a:srgbClr val="46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Motivated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3657600"/>
            <a:ext cx="1828800" cy="502920"/>
          </a:xfrm>
          <a:prstGeom prst="roundRect">
            <a:avLst/>
          </a:prstGeom>
          <a:solidFill>
            <a:srgbClr val="46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4984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Overwhelmed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85AAA"/>
                </a:solidFill>
                <a:latin typeface="Calibri"/>
              </a:defRPr>
            </a:pPr>
            <a:r>
              <a:t>Thank you!  See you at Session 2!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291A5"/>
                </a:solidFill>
                <a:latin typeface="Calibri"/>
              </a:defRPr>
            </a:pPr>
            <a:r>
              <a:t>Check your email for the follow-up with assignments and reading material.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136aabc-4c6e-46f2-b057-c262089138e6}" enabled="1" method="Standard" siteId="{763b2760-45c5-46d3-883e-29705bba49b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1734</Words>
  <Application>Microsoft Office PowerPoint</Application>
  <PresentationFormat>Widescreen</PresentationFormat>
  <Paragraphs>315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Diana Radu</cp:lastModifiedBy>
  <cp:revision>10</cp:revision>
  <dcterms:created xsi:type="dcterms:W3CDTF">2013-01-27T09:14:16Z</dcterms:created>
  <dcterms:modified xsi:type="dcterms:W3CDTF">2026-06-25T11:57:55Z</dcterms:modified>
  <cp:category/>
</cp:coreProperties>
</file>